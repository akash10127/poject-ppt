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Waffle Soft" charset="1" panose="02000503000000020004"/>
      <p:regular r:id="rId16"/>
    </p:embeddedFont>
    <p:embeddedFont>
      <p:font typeface="Helvetica World Bold" charset="1" panose="020B0800040000020004"/>
      <p:regular r:id="rId17"/>
    </p:embeddedFont>
    <p:embeddedFont>
      <p:font typeface="Helvetica World" charset="1" panose="020B05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558272" y="-5424295"/>
            <a:ext cx="8518131" cy="8208381"/>
          </a:xfrm>
          <a:custGeom>
            <a:avLst/>
            <a:gdLst/>
            <a:ahLst/>
            <a:cxnLst/>
            <a:rect r="r" b="b" t="t" l="l"/>
            <a:pathLst>
              <a:path h="8208381" w="8518131">
                <a:moveTo>
                  <a:pt x="0" y="0"/>
                </a:moveTo>
                <a:lnTo>
                  <a:pt x="8518131" y="0"/>
                </a:lnTo>
                <a:lnTo>
                  <a:pt x="8518131" y="8208381"/>
                </a:lnTo>
                <a:lnTo>
                  <a:pt x="0" y="8208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0400" y="7810859"/>
            <a:ext cx="2365737" cy="2142067"/>
          </a:xfrm>
          <a:custGeom>
            <a:avLst/>
            <a:gdLst/>
            <a:ahLst/>
            <a:cxnLst/>
            <a:rect r="r" b="b" t="t" l="l"/>
            <a:pathLst>
              <a:path h="2142067" w="2365737">
                <a:moveTo>
                  <a:pt x="0" y="0"/>
                </a:moveTo>
                <a:lnTo>
                  <a:pt x="2365737" y="0"/>
                </a:lnTo>
                <a:lnTo>
                  <a:pt x="2365737" y="2142067"/>
                </a:lnTo>
                <a:lnTo>
                  <a:pt x="0" y="2142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266667" y="6700125"/>
            <a:ext cx="484422" cy="2960355"/>
          </a:xfrm>
          <a:custGeom>
            <a:avLst/>
            <a:gdLst/>
            <a:ahLst/>
            <a:cxnLst/>
            <a:rect r="r" b="b" t="t" l="l"/>
            <a:pathLst>
              <a:path h="2960355" w="484422">
                <a:moveTo>
                  <a:pt x="0" y="0"/>
                </a:moveTo>
                <a:lnTo>
                  <a:pt x="484422" y="0"/>
                </a:lnTo>
                <a:lnTo>
                  <a:pt x="484422" y="2960356"/>
                </a:lnTo>
                <a:lnTo>
                  <a:pt x="0" y="2960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3877" y="625755"/>
            <a:ext cx="2736050" cy="1890362"/>
          </a:xfrm>
          <a:custGeom>
            <a:avLst/>
            <a:gdLst/>
            <a:ahLst/>
            <a:cxnLst/>
            <a:rect r="r" b="b" t="t" l="l"/>
            <a:pathLst>
              <a:path h="1890362" w="2736050">
                <a:moveTo>
                  <a:pt x="0" y="0"/>
                </a:moveTo>
                <a:lnTo>
                  <a:pt x="2736050" y="0"/>
                </a:lnTo>
                <a:lnTo>
                  <a:pt x="2736050" y="1890362"/>
                </a:lnTo>
                <a:lnTo>
                  <a:pt x="0" y="18903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33294"/>
            <a:ext cx="8115300" cy="300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1"/>
              </a:lnSpc>
            </a:pPr>
            <a:r>
              <a:rPr lang="en-US" b="true" sz="7232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ONLINE QUIZ APPLICATION</a:t>
            </a:r>
          </a:p>
          <a:p>
            <a:pPr algn="l" marL="0" indent="0" lvl="0">
              <a:lnSpc>
                <a:spcPts val="7811"/>
              </a:lnSpc>
            </a:pPr>
            <a:r>
              <a:rPr lang="en-US" b="true" sz="7232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(OOP PROJECT)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1477" y="6442398"/>
            <a:ext cx="6585439" cy="1093059"/>
            <a:chOff x="0" y="0"/>
            <a:chExt cx="1734437" cy="2878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4437" cy="287884"/>
            </a:xfrm>
            <a:custGeom>
              <a:avLst/>
              <a:gdLst/>
              <a:ahLst/>
              <a:cxnLst/>
              <a:rect r="r" b="b" t="t" l="l"/>
              <a:pathLst>
                <a:path h="287884" w="1734437">
                  <a:moveTo>
                    <a:pt x="59515" y="0"/>
                  </a:moveTo>
                  <a:lnTo>
                    <a:pt x="1674921" y="0"/>
                  </a:lnTo>
                  <a:cubicBezTo>
                    <a:pt x="1690706" y="0"/>
                    <a:pt x="1705844" y="6270"/>
                    <a:pt x="1717005" y="17432"/>
                  </a:cubicBezTo>
                  <a:cubicBezTo>
                    <a:pt x="1728166" y="28593"/>
                    <a:pt x="1734437" y="43731"/>
                    <a:pt x="1734437" y="59515"/>
                  </a:cubicBezTo>
                  <a:lnTo>
                    <a:pt x="1734437" y="228368"/>
                  </a:lnTo>
                  <a:cubicBezTo>
                    <a:pt x="1734437" y="244153"/>
                    <a:pt x="1728166" y="259291"/>
                    <a:pt x="1717005" y="270452"/>
                  </a:cubicBezTo>
                  <a:cubicBezTo>
                    <a:pt x="1705844" y="281613"/>
                    <a:pt x="1690706" y="287884"/>
                    <a:pt x="1674921" y="287884"/>
                  </a:cubicBezTo>
                  <a:lnTo>
                    <a:pt x="59515" y="287884"/>
                  </a:lnTo>
                  <a:cubicBezTo>
                    <a:pt x="43731" y="287884"/>
                    <a:pt x="28593" y="281613"/>
                    <a:pt x="17432" y="270452"/>
                  </a:cubicBezTo>
                  <a:cubicBezTo>
                    <a:pt x="6270" y="259291"/>
                    <a:pt x="0" y="244153"/>
                    <a:pt x="0" y="228368"/>
                  </a:cubicBezTo>
                  <a:lnTo>
                    <a:pt x="0" y="59515"/>
                  </a:lnTo>
                  <a:cubicBezTo>
                    <a:pt x="0" y="43731"/>
                    <a:pt x="6270" y="28593"/>
                    <a:pt x="17432" y="17432"/>
                  </a:cubicBezTo>
                  <a:cubicBezTo>
                    <a:pt x="28593" y="6270"/>
                    <a:pt x="43731" y="0"/>
                    <a:pt x="59515" y="0"/>
                  </a:cubicBezTo>
                  <a:close/>
                </a:path>
              </a:pathLst>
            </a:custGeom>
            <a:solidFill>
              <a:srgbClr val="D5E8F8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34437" cy="29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46677" y="6605039"/>
            <a:ext cx="5915038" cy="69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b="true" sz="3714" spc="-5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Akash Yadav | RU-25-10127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-3936186" y="5254194"/>
            <a:ext cx="6088176" cy="5866788"/>
          </a:xfrm>
          <a:custGeom>
            <a:avLst/>
            <a:gdLst/>
            <a:ahLst/>
            <a:cxnLst/>
            <a:rect r="r" b="b" t="t" l="l"/>
            <a:pathLst>
              <a:path h="5866788" w="6088176">
                <a:moveTo>
                  <a:pt x="0" y="0"/>
                </a:moveTo>
                <a:lnTo>
                  <a:pt x="6088177" y="0"/>
                </a:lnTo>
                <a:lnTo>
                  <a:pt x="6088177" y="5866788"/>
                </a:lnTo>
                <a:lnTo>
                  <a:pt x="0" y="5866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220902" y="2389653"/>
            <a:ext cx="0" cy="6492240"/>
          </a:xfrm>
          <a:prstGeom prst="line">
            <a:avLst/>
          </a:prstGeom>
          <a:ln cap="flat" w="38100">
            <a:solidFill>
              <a:srgbClr val="0B1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18743" y="2750370"/>
            <a:ext cx="4698595" cy="5672144"/>
            <a:chOff x="0" y="0"/>
            <a:chExt cx="6350000" cy="7665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10"/>
              <a:stretch>
                <a:fillRect l="223" t="0" r="223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818579" y="929134"/>
            <a:ext cx="650842" cy="641802"/>
          </a:xfrm>
          <a:custGeom>
            <a:avLst/>
            <a:gdLst/>
            <a:ahLst/>
            <a:cxnLst/>
            <a:rect r="r" b="b" t="t" l="l"/>
            <a:pathLst>
              <a:path h="641802" w="650842">
                <a:moveTo>
                  <a:pt x="0" y="0"/>
                </a:moveTo>
                <a:lnTo>
                  <a:pt x="650842" y="0"/>
                </a:lnTo>
                <a:lnTo>
                  <a:pt x="650842" y="641802"/>
                </a:lnTo>
                <a:lnTo>
                  <a:pt x="0" y="6418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910359" y="1665868"/>
            <a:ext cx="4467283" cy="4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3"/>
              </a:lnSpc>
            </a:pPr>
            <a:r>
              <a:rPr lang="en-US" b="true" sz="1202" spc="-1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 | Guide: Mr. Santanu Sasmal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156754" y="1539332"/>
            <a:ext cx="5673513" cy="7585547"/>
            <a:chOff x="0" y="0"/>
            <a:chExt cx="1494259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425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494259">
                  <a:moveTo>
                    <a:pt x="27291" y="0"/>
                  </a:moveTo>
                  <a:lnTo>
                    <a:pt x="1466967" y="0"/>
                  </a:lnTo>
                  <a:cubicBezTo>
                    <a:pt x="1474205" y="0"/>
                    <a:pt x="1481147" y="2875"/>
                    <a:pt x="1486265" y="7993"/>
                  </a:cubicBezTo>
                  <a:cubicBezTo>
                    <a:pt x="1491383" y="13112"/>
                    <a:pt x="1494259" y="20053"/>
                    <a:pt x="1494259" y="27291"/>
                  </a:cubicBezTo>
                  <a:lnTo>
                    <a:pt x="1494259" y="1970548"/>
                  </a:lnTo>
                  <a:cubicBezTo>
                    <a:pt x="1494259" y="1985621"/>
                    <a:pt x="1482040" y="1997839"/>
                    <a:pt x="1466967" y="1997839"/>
                  </a:cubicBezTo>
                  <a:lnTo>
                    <a:pt x="27291" y="1997839"/>
                  </a:lnTo>
                  <a:cubicBezTo>
                    <a:pt x="20053" y="1997839"/>
                    <a:pt x="13112" y="1994964"/>
                    <a:pt x="7993" y="1989846"/>
                  </a:cubicBezTo>
                  <a:cubicBezTo>
                    <a:pt x="2875" y="1984728"/>
                    <a:pt x="0" y="1977786"/>
                    <a:pt x="0" y="1970548"/>
                  </a:cubicBezTo>
                  <a:lnTo>
                    <a:pt x="0" y="27291"/>
                  </a:lnTo>
                  <a:cubicBezTo>
                    <a:pt x="0" y="20053"/>
                    <a:pt x="2875" y="13112"/>
                    <a:pt x="7993" y="7993"/>
                  </a:cubicBezTo>
                  <a:cubicBezTo>
                    <a:pt x="13112" y="2875"/>
                    <a:pt x="20053" y="0"/>
                    <a:pt x="27291" y="0"/>
                  </a:cubicBezTo>
                  <a:close/>
                </a:path>
              </a:pathLst>
            </a:custGeom>
            <a:ln w="57150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9425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4364146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19175"/>
            <a:ext cx="3790498" cy="25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2"/>
              </a:lnSpc>
            </a:pPr>
            <a:r>
              <a:rPr lang="en-US" b="true" sz="1473" spc="-22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89972" y="1019175"/>
            <a:ext cx="3790498" cy="257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2"/>
              </a:lnSpc>
            </a:pPr>
            <a:r>
              <a:rPr lang="en-US" b="true" sz="1473" spc="-22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OOP Project Report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63566" y="2945654"/>
            <a:ext cx="6659889" cy="465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2153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presents a console-based Java software application designed to automate the quiz-taking process for students and learners.</a:t>
            </a:r>
          </a:p>
          <a:p>
            <a:pPr algn="just" marL="0" indent="0" lvl="0">
              <a:lnSpc>
                <a:spcPts val="2691"/>
              </a:lnSpc>
            </a:pPr>
            <a:r>
              <a:rPr lang="en-US" sz="2153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provides automated, immediate evaluation and feedback upon quiz completion, eliminating the need for manual assessment and reducing human error.</a:t>
            </a:r>
          </a:p>
          <a:p>
            <a:pPr algn="just" marL="0" indent="0" lvl="0">
              <a:lnSpc>
                <a:spcPts val="2691"/>
              </a:lnSpc>
            </a:pPr>
            <a:r>
              <a:rPr lang="en-US" sz="2153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Built on core Object-Oriented Programming (OOP) principles, the application demonstrates practical implementation of Java classes, encapsulation, and modular design.</a:t>
            </a:r>
          </a:p>
          <a:p>
            <a:pPr algn="just" marL="0" indent="0" lvl="0">
              <a:lnSpc>
                <a:spcPts val="2691"/>
              </a:lnSpc>
            </a:pPr>
            <a:r>
              <a:rPr lang="en-US" sz="2153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application is lightweight, easy to use, and suitable for educational and training environments, making it an efficient solution for interactive knowledge assessment.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5974" y="4257345"/>
            <a:ext cx="6303853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716304" cy="585908"/>
            <a:chOff x="0" y="0"/>
            <a:chExt cx="978780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780" cy="154313"/>
            </a:xfrm>
            <a:custGeom>
              <a:avLst/>
              <a:gdLst/>
              <a:ahLst/>
              <a:cxnLst/>
              <a:rect r="r" b="b" t="t" l="l"/>
              <a:pathLst>
                <a:path h="154313" w="978780">
                  <a:moveTo>
                    <a:pt x="77157" y="0"/>
                  </a:moveTo>
                  <a:lnTo>
                    <a:pt x="901623" y="0"/>
                  </a:lnTo>
                  <a:cubicBezTo>
                    <a:pt x="944235" y="0"/>
                    <a:pt x="978780" y="34544"/>
                    <a:pt x="978780" y="77157"/>
                  </a:cubicBezTo>
                  <a:lnTo>
                    <a:pt x="978780" y="77157"/>
                  </a:lnTo>
                  <a:cubicBezTo>
                    <a:pt x="978780" y="97620"/>
                    <a:pt x="970651" y="117245"/>
                    <a:pt x="956181" y="131715"/>
                  </a:cubicBezTo>
                  <a:cubicBezTo>
                    <a:pt x="941711" y="146184"/>
                    <a:pt x="922086" y="154313"/>
                    <a:pt x="901623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78780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51040" y="877299"/>
            <a:ext cx="3802889" cy="541662"/>
            <a:chOff x="0" y="0"/>
            <a:chExt cx="1001584" cy="142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1584" cy="142660"/>
            </a:xfrm>
            <a:custGeom>
              <a:avLst/>
              <a:gdLst/>
              <a:ahLst/>
              <a:cxnLst/>
              <a:rect r="r" b="b" t="t" l="l"/>
              <a:pathLst>
                <a:path h="142660" w="1001584">
                  <a:moveTo>
                    <a:pt x="71330" y="0"/>
                  </a:moveTo>
                  <a:lnTo>
                    <a:pt x="930254" y="0"/>
                  </a:lnTo>
                  <a:cubicBezTo>
                    <a:pt x="969648" y="0"/>
                    <a:pt x="1001584" y="31936"/>
                    <a:pt x="1001584" y="71330"/>
                  </a:cubicBezTo>
                  <a:lnTo>
                    <a:pt x="1001584" y="71330"/>
                  </a:lnTo>
                  <a:cubicBezTo>
                    <a:pt x="1001584" y="110724"/>
                    <a:pt x="969648" y="142660"/>
                    <a:pt x="930254" y="142660"/>
                  </a:cubicBezTo>
                  <a:lnTo>
                    <a:pt x="71330" y="142660"/>
                  </a:lnTo>
                  <a:cubicBezTo>
                    <a:pt x="31936" y="142660"/>
                    <a:pt x="0" y="110724"/>
                    <a:pt x="0" y="71330"/>
                  </a:cubicBezTo>
                  <a:lnTo>
                    <a:pt x="0" y="71330"/>
                  </a:lnTo>
                  <a:cubicBezTo>
                    <a:pt x="0" y="31936"/>
                    <a:pt x="31936" y="0"/>
                    <a:pt x="71330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01584" cy="15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89972" y="1010064"/>
            <a:ext cx="3790498" cy="26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2"/>
              </a:lnSpc>
            </a:pPr>
            <a:r>
              <a:rPr lang="en-US" b="true" sz="1594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03081" y="4055312"/>
            <a:ext cx="10652428" cy="397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automates the traditional quiz process to enhance interactivity and efficiency in educational environments. The system provides a user-friendly console interface that allows students to take quizzes seamlessly without manual intervention.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highlights of the introduction: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Automates quiz delivery and evaluation using Java-based OOP design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Offers a clean, intuitive console interface for ease of use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Delivers real-time feedback immediately after each response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Implements automatic scoring mechanisms for instant results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Reduces manual effort for educators and improves student engagement</a:t>
            </a:r>
          </a:p>
          <a:p>
            <a:pPr algn="just" marL="0" indent="0" lvl="0">
              <a:lnSpc>
                <a:spcPts val="2911"/>
              </a:lnSpc>
            </a:pPr>
            <a:r>
              <a:rPr lang="en-US" sz="2329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Designed to demonstrate practical application of object-oriented principles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37898" y="2477605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75381" y="1019175"/>
            <a:ext cx="3525033" cy="25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53"/>
              </a:lnSpc>
            </a:pPr>
            <a:r>
              <a:rPr lang="en-US" b="true" sz="1482" spc="-22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528713" y="2313202"/>
            <a:ext cx="4585520" cy="7585547"/>
            <a:chOff x="0" y="0"/>
            <a:chExt cx="1207709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14720" y="877299"/>
            <a:ext cx="3790498" cy="615708"/>
            <a:chOff x="0" y="0"/>
            <a:chExt cx="998320" cy="1621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8320" cy="162162"/>
            </a:xfrm>
            <a:custGeom>
              <a:avLst/>
              <a:gdLst/>
              <a:ahLst/>
              <a:cxnLst/>
              <a:rect r="r" b="b" t="t" l="l"/>
              <a:pathLst>
                <a:path h="162162" w="998320">
                  <a:moveTo>
                    <a:pt x="81081" y="0"/>
                  </a:moveTo>
                  <a:lnTo>
                    <a:pt x="917240" y="0"/>
                  </a:lnTo>
                  <a:cubicBezTo>
                    <a:pt x="938744" y="0"/>
                    <a:pt x="959367" y="8542"/>
                    <a:pt x="974572" y="23748"/>
                  </a:cubicBezTo>
                  <a:cubicBezTo>
                    <a:pt x="989778" y="38954"/>
                    <a:pt x="998320" y="59577"/>
                    <a:pt x="998320" y="81081"/>
                  </a:cubicBezTo>
                  <a:lnTo>
                    <a:pt x="998320" y="81081"/>
                  </a:lnTo>
                  <a:cubicBezTo>
                    <a:pt x="998320" y="125861"/>
                    <a:pt x="962019" y="162162"/>
                    <a:pt x="917240" y="162162"/>
                  </a:cubicBezTo>
                  <a:lnTo>
                    <a:pt x="81081" y="162162"/>
                  </a:lnTo>
                  <a:cubicBezTo>
                    <a:pt x="36301" y="162162"/>
                    <a:pt x="0" y="125861"/>
                    <a:pt x="0" y="81081"/>
                  </a:cubicBezTo>
                  <a:lnTo>
                    <a:pt x="0" y="81081"/>
                  </a:lnTo>
                  <a:cubicBezTo>
                    <a:pt x="0" y="36301"/>
                    <a:pt x="36301" y="0"/>
                    <a:pt x="81081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98320" cy="17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46623" y="877299"/>
            <a:ext cx="3907307" cy="561306"/>
            <a:chOff x="0" y="0"/>
            <a:chExt cx="1029085" cy="147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9085" cy="147834"/>
            </a:xfrm>
            <a:custGeom>
              <a:avLst/>
              <a:gdLst/>
              <a:ahLst/>
              <a:cxnLst/>
              <a:rect r="r" b="b" t="t" l="l"/>
              <a:pathLst>
                <a:path h="147834" w="1029085">
                  <a:moveTo>
                    <a:pt x="73917" y="0"/>
                  </a:moveTo>
                  <a:lnTo>
                    <a:pt x="955168" y="0"/>
                  </a:lnTo>
                  <a:cubicBezTo>
                    <a:pt x="974772" y="0"/>
                    <a:pt x="993573" y="7788"/>
                    <a:pt x="1007435" y="21650"/>
                  </a:cubicBezTo>
                  <a:cubicBezTo>
                    <a:pt x="1021297" y="35512"/>
                    <a:pt x="1029085" y="54313"/>
                    <a:pt x="1029085" y="73917"/>
                  </a:cubicBezTo>
                  <a:lnTo>
                    <a:pt x="1029085" y="73917"/>
                  </a:lnTo>
                  <a:cubicBezTo>
                    <a:pt x="1029085" y="93521"/>
                    <a:pt x="1021297" y="112322"/>
                    <a:pt x="1007435" y="126184"/>
                  </a:cubicBezTo>
                  <a:cubicBezTo>
                    <a:pt x="993573" y="140046"/>
                    <a:pt x="974772" y="147834"/>
                    <a:pt x="955168" y="147834"/>
                  </a:cubicBezTo>
                  <a:lnTo>
                    <a:pt x="73917" y="147834"/>
                  </a:lnTo>
                  <a:cubicBezTo>
                    <a:pt x="54313" y="147834"/>
                    <a:pt x="35512" y="140046"/>
                    <a:pt x="21650" y="126184"/>
                  </a:cubicBezTo>
                  <a:cubicBezTo>
                    <a:pt x="7788" y="112322"/>
                    <a:pt x="0" y="93521"/>
                    <a:pt x="0" y="73917"/>
                  </a:cubicBezTo>
                  <a:lnTo>
                    <a:pt x="0" y="73917"/>
                  </a:lnTo>
                  <a:cubicBezTo>
                    <a:pt x="0" y="54313"/>
                    <a:pt x="7788" y="35512"/>
                    <a:pt x="21650" y="21650"/>
                  </a:cubicBezTo>
                  <a:cubicBezTo>
                    <a:pt x="35512" y="7788"/>
                    <a:pt x="54313" y="0"/>
                    <a:pt x="7391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9085" cy="15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63432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73767" y="2313202"/>
            <a:ext cx="4585520" cy="7585547"/>
            <a:chOff x="0" y="0"/>
            <a:chExt cx="1207709" cy="1997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63934" y="4133665"/>
            <a:ext cx="6315078" cy="3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SCOPE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Designed for small-scale quizzes and classroom tests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Suitable for educational and training environments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Applicable to student assessments and self-evaluation scenarios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Lightweight console-based system with minimal setup requirements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8988" y="4133665"/>
            <a:ext cx="6315078" cy="3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OBJECTIVES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Develop an interactive quiz system using OOP principles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Enable automatic evaluation and immediate feedback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Demonstrate practical application of Java classes and arrays</a:t>
            </a:r>
          </a:p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Implement encapsulation and modular code design for maintainability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37898" y="2161213"/>
            <a:ext cx="9412204" cy="11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79"/>
              </a:lnSpc>
            </a:pPr>
            <a:r>
              <a:rPr lang="en-US" b="true" sz="7263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Scope &amp;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4976" y="7697293"/>
            <a:ext cx="2491161" cy="2255633"/>
          </a:xfrm>
          <a:custGeom>
            <a:avLst/>
            <a:gdLst/>
            <a:ahLst/>
            <a:cxnLst/>
            <a:rect r="r" b="b" t="t" l="l"/>
            <a:pathLst>
              <a:path h="2255633" w="2491161">
                <a:moveTo>
                  <a:pt x="0" y="0"/>
                </a:moveTo>
                <a:lnTo>
                  <a:pt x="2491161" y="0"/>
                </a:lnTo>
                <a:lnTo>
                  <a:pt x="2491161" y="2255633"/>
                </a:lnTo>
                <a:lnTo>
                  <a:pt x="0" y="2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82427" y="1035476"/>
            <a:ext cx="3340785" cy="25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9"/>
              </a:lnSpc>
            </a:pPr>
            <a:r>
              <a:rPr lang="en-US" b="true" sz="1519" spc="-22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9972" y="1028700"/>
            <a:ext cx="3790498" cy="27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5"/>
              </a:lnSpc>
            </a:pPr>
            <a:r>
              <a:rPr lang="en-US" b="true" sz="172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2567" y="3440505"/>
            <a:ext cx="6979802" cy="155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sz="251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Minimum Hardware: At least 4GB RAM is required to ensure smooth execution of the Java-based quiz application and the development environment without performance issues.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2567" y="5843534"/>
            <a:ext cx="6979802" cy="155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sz="251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Development Environment: An Integrated Development Environment (IDE) such as Eclipse, IntelliJ IDEA, or NetBeans is required for efficient coding, debugging, and testing of the application.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5320" y="3555534"/>
            <a:ext cx="6979802" cy="19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sz="251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Java JDK: Java Development Kit (JDK) must be installed on the system. The application is built using core Java, leveraging OOP principles, classes, arrays, and standard input/output libraries.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5320" y="5958563"/>
            <a:ext cx="6979802" cy="194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49"/>
              </a:lnSpc>
            </a:pPr>
            <a:r>
              <a:rPr lang="en-US" sz="251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Compatibility: The system is compatible with typical student or developer machines running Windows, macOS, or Linux. No advanced hardware or internet connection is required for operation.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88371"/>
            <a:ext cx="9412204" cy="102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1"/>
              </a:lnSpc>
            </a:pPr>
            <a:r>
              <a:rPr lang="en-US" b="true" sz="6528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System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4976" y="7697293"/>
            <a:ext cx="2491161" cy="2255633"/>
          </a:xfrm>
          <a:custGeom>
            <a:avLst/>
            <a:gdLst/>
            <a:ahLst/>
            <a:cxnLst/>
            <a:rect r="r" b="b" t="t" l="l"/>
            <a:pathLst>
              <a:path h="2255633" w="2491161">
                <a:moveTo>
                  <a:pt x="0" y="0"/>
                </a:moveTo>
                <a:lnTo>
                  <a:pt x="2491161" y="0"/>
                </a:lnTo>
                <a:lnTo>
                  <a:pt x="2491161" y="2255633"/>
                </a:lnTo>
                <a:lnTo>
                  <a:pt x="0" y="2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14720" y="855176"/>
            <a:ext cx="3960770" cy="586355"/>
            <a:chOff x="0" y="0"/>
            <a:chExt cx="1043166" cy="154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3166" cy="154431"/>
            </a:xfrm>
            <a:custGeom>
              <a:avLst/>
              <a:gdLst/>
              <a:ahLst/>
              <a:cxnLst/>
              <a:rect r="r" b="b" t="t" l="l"/>
              <a:pathLst>
                <a:path h="154431" w="1043166">
                  <a:moveTo>
                    <a:pt x="77215" y="0"/>
                  </a:moveTo>
                  <a:lnTo>
                    <a:pt x="965950" y="0"/>
                  </a:lnTo>
                  <a:cubicBezTo>
                    <a:pt x="986429" y="0"/>
                    <a:pt x="1006069" y="8135"/>
                    <a:pt x="1020550" y="22616"/>
                  </a:cubicBezTo>
                  <a:cubicBezTo>
                    <a:pt x="1035031" y="37097"/>
                    <a:pt x="1043166" y="56737"/>
                    <a:pt x="1043166" y="77215"/>
                  </a:cubicBezTo>
                  <a:lnTo>
                    <a:pt x="1043166" y="77215"/>
                  </a:lnTo>
                  <a:cubicBezTo>
                    <a:pt x="1043166" y="97694"/>
                    <a:pt x="1035031" y="117334"/>
                    <a:pt x="1020550" y="131815"/>
                  </a:cubicBezTo>
                  <a:cubicBezTo>
                    <a:pt x="1006069" y="146296"/>
                    <a:pt x="986429" y="154431"/>
                    <a:pt x="965950" y="154431"/>
                  </a:cubicBezTo>
                  <a:lnTo>
                    <a:pt x="77215" y="154431"/>
                  </a:lnTo>
                  <a:cubicBezTo>
                    <a:pt x="56737" y="154431"/>
                    <a:pt x="37097" y="146296"/>
                    <a:pt x="22616" y="131815"/>
                  </a:cubicBezTo>
                  <a:cubicBezTo>
                    <a:pt x="8135" y="117334"/>
                    <a:pt x="0" y="97694"/>
                    <a:pt x="0" y="77215"/>
                  </a:cubicBezTo>
                  <a:lnTo>
                    <a:pt x="0" y="77215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5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43166" cy="163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37321" y="877299"/>
            <a:ext cx="4043149" cy="597750"/>
            <a:chOff x="0" y="0"/>
            <a:chExt cx="1064862" cy="157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4862" cy="157432"/>
            </a:xfrm>
            <a:custGeom>
              <a:avLst/>
              <a:gdLst/>
              <a:ahLst/>
              <a:cxnLst/>
              <a:rect r="r" b="b" t="t" l="l"/>
              <a:pathLst>
                <a:path h="157432" w="1064862">
                  <a:moveTo>
                    <a:pt x="78716" y="0"/>
                  </a:moveTo>
                  <a:lnTo>
                    <a:pt x="986146" y="0"/>
                  </a:lnTo>
                  <a:cubicBezTo>
                    <a:pt x="1007023" y="0"/>
                    <a:pt x="1027045" y="8293"/>
                    <a:pt x="1041807" y="23055"/>
                  </a:cubicBezTo>
                  <a:cubicBezTo>
                    <a:pt x="1056569" y="37818"/>
                    <a:pt x="1064862" y="57839"/>
                    <a:pt x="1064862" y="78716"/>
                  </a:cubicBezTo>
                  <a:lnTo>
                    <a:pt x="1064862" y="78716"/>
                  </a:lnTo>
                  <a:cubicBezTo>
                    <a:pt x="1064862" y="122190"/>
                    <a:pt x="1029620" y="157432"/>
                    <a:pt x="986146" y="157432"/>
                  </a:cubicBezTo>
                  <a:lnTo>
                    <a:pt x="78716" y="157432"/>
                  </a:lnTo>
                  <a:cubicBezTo>
                    <a:pt x="57839" y="157432"/>
                    <a:pt x="37818" y="149139"/>
                    <a:pt x="23055" y="134377"/>
                  </a:cubicBezTo>
                  <a:cubicBezTo>
                    <a:pt x="8293" y="119615"/>
                    <a:pt x="0" y="99593"/>
                    <a:pt x="0" y="78716"/>
                  </a:cubicBezTo>
                  <a:lnTo>
                    <a:pt x="0" y="78716"/>
                  </a:lnTo>
                  <a:cubicBezTo>
                    <a:pt x="0" y="57839"/>
                    <a:pt x="8293" y="37818"/>
                    <a:pt x="23055" y="23055"/>
                  </a:cubicBezTo>
                  <a:cubicBezTo>
                    <a:pt x="37818" y="8293"/>
                    <a:pt x="57839" y="0"/>
                    <a:pt x="78716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64862" cy="166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14720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9972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2567" y="3440505"/>
            <a:ext cx="6979802" cy="11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Class-based design implementing dedicated Question and Quiz Manager classes to separate concerns and improve code organization.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2567" y="5843534"/>
            <a:ext cx="6979802" cy="11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Array storage used to hold quiz questions and answers efficiently, enabling structured data management within the console application.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5320" y="3555534"/>
            <a:ext cx="6979802" cy="11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.equals() method is applied for accurate string comparison between user input and correct answers, ensuring reliable evaluation.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5320" y="5958563"/>
            <a:ext cx="6979802" cy="11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Strong emphasis on encapsulation and modular code design, promoting reusability, maintainability, and clean OOP principles throughout the project.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69321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528713" y="2313202"/>
            <a:ext cx="4585520" cy="7585547"/>
            <a:chOff x="0" y="0"/>
            <a:chExt cx="1207709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84111" y="877299"/>
            <a:ext cx="3721107" cy="623994"/>
            <a:chOff x="0" y="0"/>
            <a:chExt cx="980045" cy="164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0045" cy="164344"/>
            </a:xfrm>
            <a:custGeom>
              <a:avLst/>
              <a:gdLst/>
              <a:ahLst/>
              <a:cxnLst/>
              <a:rect r="r" b="b" t="t" l="l"/>
              <a:pathLst>
                <a:path h="164344" w="980045">
                  <a:moveTo>
                    <a:pt x="82172" y="0"/>
                  </a:moveTo>
                  <a:lnTo>
                    <a:pt x="897873" y="0"/>
                  </a:lnTo>
                  <a:cubicBezTo>
                    <a:pt x="919666" y="0"/>
                    <a:pt x="940567" y="8657"/>
                    <a:pt x="955977" y="24068"/>
                  </a:cubicBezTo>
                  <a:cubicBezTo>
                    <a:pt x="971387" y="39478"/>
                    <a:pt x="980045" y="60379"/>
                    <a:pt x="980045" y="82172"/>
                  </a:cubicBezTo>
                  <a:lnTo>
                    <a:pt x="980045" y="82172"/>
                  </a:lnTo>
                  <a:cubicBezTo>
                    <a:pt x="980045" y="103966"/>
                    <a:pt x="971387" y="124866"/>
                    <a:pt x="955977" y="140277"/>
                  </a:cubicBezTo>
                  <a:cubicBezTo>
                    <a:pt x="940567" y="155687"/>
                    <a:pt x="919666" y="164344"/>
                    <a:pt x="897873" y="164344"/>
                  </a:cubicBezTo>
                  <a:lnTo>
                    <a:pt x="82172" y="164344"/>
                  </a:lnTo>
                  <a:cubicBezTo>
                    <a:pt x="60379" y="164344"/>
                    <a:pt x="39478" y="155687"/>
                    <a:pt x="24068" y="140277"/>
                  </a:cubicBezTo>
                  <a:cubicBezTo>
                    <a:pt x="8657" y="124866"/>
                    <a:pt x="0" y="103966"/>
                    <a:pt x="0" y="82172"/>
                  </a:cubicBezTo>
                  <a:lnTo>
                    <a:pt x="0" y="82172"/>
                  </a:lnTo>
                  <a:cubicBezTo>
                    <a:pt x="0" y="60379"/>
                    <a:pt x="8657" y="39478"/>
                    <a:pt x="24068" y="24068"/>
                  </a:cubicBezTo>
                  <a:cubicBezTo>
                    <a:pt x="39478" y="8657"/>
                    <a:pt x="60379" y="0"/>
                    <a:pt x="82172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80045" cy="17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89972" y="832369"/>
            <a:ext cx="3663957" cy="623994"/>
            <a:chOff x="0" y="0"/>
            <a:chExt cx="964993" cy="1643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4993" cy="164344"/>
            </a:xfrm>
            <a:custGeom>
              <a:avLst/>
              <a:gdLst/>
              <a:ahLst/>
              <a:cxnLst/>
              <a:rect r="r" b="b" t="t" l="l"/>
              <a:pathLst>
                <a:path h="164344" w="964993">
                  <a:moveTo>
                    <a:pt x="82172" y="0"/>
                  </a:moveTo>
                  <a:lnTo>
                    <a:pt x="882821" y="0"/>
                  </a:lnTo>
                  <a:cubicBezTo>
                    <a:pt x="904614" y="0"/>
                    <a:pt x="925515" y="8657"/>
                    <a:pt x="940925" y="24068"/>
                  </a:cubicBezTo>
                  <a:cubicBezTo>
                    <a:pt x="956336" y="39478"/>
                    <a:pt x="964993" y="60379"/>
                    <a:pt x="964993" y="82172"/>
                  </a:cubicBezTo>
                  <a:lnTo>
                    <a:pt x="964993" y="82172"/>
                  </a:lnTo>
                  <a:cubicBezTo>
                    <a:pt x="964993" y="103966"/>
                    <a:pt x="956336" y="124866"/>
                    <a:pt x="940925" y="140277"/>
                  </a:cubicBezTo>
                  <a:cubicBezTo>
                    <a:pt x="925515" y="155687"/>
                    <a:pt x="904614" y="164344"/>
                    <a:pt x="882821" y="164344"/>
                  </a:cubicBezTo>
                  <a:lnTo>
                    <a:pt x="82172" y="164344"/>
                  </a:lnTo>
                  <a:cubicBezTo>
                    <a:pt x="60379" y="164344"/>
                    <a:pt x="39478" y="155687"/>
                    <a:pt x="24068" y="140277"/>
                  </a:cubicBezTo>
                  <a:cubicBezTo>
                    <a:pt x="8657" y="124866"/>
                    <a:pt x="0" y="103966"/>
                    <a:pt x="0" y="82172"/>
                  </a:cubicBezTo>
                  <a:lnTo>
                    <a:pt x="0" y="82172"/>
                  </a:lnTo>
                  <a:cubicBezTo>
                    <a:pt x="0" y="60379"/>
                    <a:pt x="8657" y="39478"/>
                    <a:pt x="24068" y="24068"/>
                  </a:cubicBezTo>
                  <a:cubicBezTo>
                    <a:pt x="39478" y="8657"/>
                    <a:pt x="60379" y="0"/>
                    <a:pt x="82172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64993" cy="17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28700"/>
            <a:ext cx="3790498" cy="25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5"/>
              </a:lnSpc>
            </a:pPr>
            <a:r>
              <a:rPr lang="en-US" b="true" sz="1564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89972" y="1028700"/>
            <a:ext cx="3790498" cy="25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5"/>
              </a:lnSpc>
            </a:pPr>
            <a:r>
              <a:rPr lang="en-US" b="true" sz="1564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73767" y="2313202"/>
            <a:ext cx="4585520" cy="7585547"/>
            <a:chOff x="0" y="0"/>
            <a:chExt cx="1207709" cy="1997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63934" y="4124140"/>
            <a:ext cx="6315078" cy="398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Question Class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Stores question text, multiple options, and the correct answer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Encapsulates all question-related data in a single object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Uses private fields with getter methods for data access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Supports easy addition of new questions to the quiz pool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Demonstrates core OOP encapsulation principles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8988" y="4124140"/>
            <a:ext cx="6315078" cy="36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Quiz Manager Class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Manages overall quiz flow and program execution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Handles user input via console interaction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Uses .equals() method to compare answers and calculate score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Provides immediate feedback after each question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Modular design supports easy updates and maintenance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37898" y="2151688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0800221" y="2053429"/>
            <a:ext cx="5332611" cy="7585547"/>
            <a:chOff x="0" y="0"/>
            <a:chExt cx="1404474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4474" cy="1997839"/>
            </a:xfrm>
            <a:custGeom>
              <a:avLst/>
              <a:gdLst/>
              <a:ahLst/>
              <a:cxnLst/>
              <a:rect r="r" b="b" t="t" l="l"/>
              <a:pathLst>
                <a:path h="1997839" w="1404474">
                  <a:moveTo>
                    <a:pt x="27584" y="0"/>
                  </a:moveTo>
                  <a:lnTo>
                    <a:pt x="1376889" y="0"/>
                  </a:lnTo>
                  <a:cubicBezTo>
                    <a:pt x="1384205" y="0"/>
                    <a:pt x="1391221" y="2906"/>
                    <a:pt x="1396394" y="8079"/>
                  </a:cubicBezTo>
                  <a:cubicBezTo>
                    <a:pt x="1401567" y="13252"/>
                    <a:pt x="1404474" y="20269"/>
                    <a:pt x="1404474" y="27584"/>
                  </a:cubicBezTo>
                  <a:lnTo>
                    <a:pt x="1404474" y="1970255"/>
                  </a:lnTo>
                  <a:cubicBezTo>
                    <a:pt x="1404474" y="1985490"/>
                    <a:pt x="1392124" y="1997839"/>
                    <a:pt x="1376889" y="1997839"/>
                  </a:cubicBezTo>
                  <a:lnTo>
                    <a:pt x="27584" y="1997839"/>
                  </a:lnTo>
                  <a:cubicBezTo>
                    <a:pt x="20269" y="1997839"/>
                    <a:pt x="13252" y="1994933"/>
                    <a:pt x="8079" y="1989760"/>
                  </a:cubicBezTo>
                  <a:cubicBezTo>
                    <a:pt x="2906" y="1984587"/>
                    <a:pt x="0" y="1977571"/>
                    <a:pt x="0" y="1970255"/>
                  </a:cubicBezTo>
                  <a:lnTo>
                    <a:pt x="0" y="27584"/>
                  </a:lnTo>
                  <a:cubicBezTo>
                    <a:pt x="0" y="20269"/>
                    <a:pt x="2906" y="13252"/>
                    <a:pt x="8079" y="8079"/>
                  </a:cubicBezTo>
                  <a:cubicBezTo>
                    <a:pt x="13252" y="2906"/>
                    <a:pt x="20269" y="0"/>
                    <a:pt x="27584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04474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14720" y="877299"/>
            <a:ext cx="3790498" cy="638902"/>
            <a:chOff x="0" y="0"/>
            <a:chExt cx="998320" cy="168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8320" cy="168270"/>
            </a:xfrm>
            <a:custGeom>
              <a:avLst/>
              <a:gdLst/>
              <a:ahLst/>
              <a:cxnLst/>
              <a:rect r="r" b="b" t="t" l="l"/>
              <a:pathLst>
                <a:path h="168270" w="998320">
                  <a:moveTo>
                    <a:pt x="84135" y="0"/>
                  </a:moveTo>
                  <a:lnTo>
                    <a:pt x="914185" y="0"/>
                  </a:lnTo>
                  <a:cubicBezTo>
                    <a:pt x="936499" y="0"/>
                    <a:pt x="957899" y="8864"/>
                    <a:pt x="973678" y="24643"/>
                  </a:cubicBezTo>
                  <a:cubicBezTo>
                    <a:pt x="989456" y="40421"/>
                    <a:pt x="998320" y="61821"/>
                    <a:pt x="998320" y="84135"/>
                  </a:cubicBezTo>
                  <a:lnTo>
                    <a:pt x="998320" y="84135"/>
                  </a:lnTo>
                  <a:cubicBezTo>
                    <a:pt x="998320" y="130602"/>
                    <a:pt x="960652" y="168270"/>
                    <a:pt x="914185" y="168270"/>
                  </a:cubicBezTo>
                  <a:lnTo>
                    <a:pt x="84135" y="168270"/>
                  </a:lnTo>
                  <a:cubicBezTo>
                    <a:pt x="37669" y="168270"/>
                    <a:pt x="0" y="130602"/>
                    <a:pt x="0" y="84135"/>
                  </a:cubicBezTo>
                  <a:lnTo>
                    <a:pt x="0" y="84135"/>
                  </a:lnTo>
                  <a:cubicBezTo>
                    <a:pt x="0" y="37669"/>
                    <a:pt x="37669" y="0"/>
                    <a:pt x="84135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98320" cy="177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40427" y="877299"/>
            <a:ext cx="3913503" cy="563785"/>
            <a:chOff x="0" y="0"/>
            <a:chExt cx="1030717" cy="1484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0717" cy="148487"/>
            </a:xfrm>
            <a:custGeom>
              <a:avLst/>
              <a:gdLst/>
              <a:ahLst/>
              <a:cxnLst/>
              <a:rect r="r" b="b" t="t" l="l"/>
              <a:pathLst>
                <a:path h="148487" w="1030717">
                  <a:moveTo>
                    <a:pt x="74243" y="0"/>
                  </a:moveTo>
                  <a:lnTo>
                    <a:pt x="956473" y="0"/>
                  </a:lnTo>
                  <a:cubicBezTo>
                    <a:pt x="976164" y="0"/>
                    <a:pt x="995048" y="7822"/>
                    <a:pt x="1008971" y="21745"/>
                  </a:cubicBezTo>
                  <a:cubicBezTo>
                    <a:pt x="1022895" y="35669"/>
                    <a:pt x="1030717" y="54553"/>
                    <a:pt x="1030717" y="74243"/>
                  </a:cubicBezTo>
                  <a:lnTo>
                    <a:pt x="1030717" y="74243"/>
                  </a:lnTo>
                  <a:cubicBezTo>
                    <a:pt x="1030717" y="115247"/>
                    <a:pt x="997477" y="148487"/>
                    <a:pt x="956473" y="148487"/>
                  </a:cubicBezTo>
                  <a:lnTo>
                    <a:pt x="74243" y="148487"/>
                  </a:lnTo>
                  <a:cubicBezTo>
                    <a:pt x="54553" y="148487"/>
                    <a:pt x="35669" y="140665"/>
                    <a:pt x="21745" y="126741"/>
                  </a:cubicBezTo>
                  <a:cubicBezTo>
                    <a:pt x="7822" y="112818"/>
                    <a:pt x="0" y="93934"/>
                    <a:pt x="0" y="74243"/>
                  </a:cubicBezTo>
                  <a:lnTo>
                    <a:pt x="0" y="74243"/>
                  </a:lnTo>
                  <a:cubicBezTo>
                    <a:pt x="0" y="54553"/>
                    <a:pt x="7822" y="35669"/>
                    <a:pt x="21745" y="21745"/>
                  </a:cubicBezTo>
                  <a:cubicBezTo>
                    <a:pt x="35669" y="7822"/>
                    <a:pt x="54553" y="0"/>
                    <a:pt x="74243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30717" cy="158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63432" y="1007377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8453" y="3170372"/>
            <a:ext cx="7382082" cy="155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project was executed over four structured weeks, each dedicated to a specific phase ensuring systematic development and timely completion of the Online Quiz Application.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8453" y="5870392"/>
            <a:ext cx="7382082" cy="155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phase builds upon the previous, from initial planning through coding, rigorous testing, and final report preparation — reflecting a disciplined OOP project workflow.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37898" y="1769321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Gantt Chart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7700510" y="6987240"/>
            <a:ext cx="348757" cy="2131293"/>
          </a:xfrm>
          <a:custGeom>
            <a:avLst/>
            <a:gdLst/>
            <a:ahLst/>
            <a:cxnLst/>
            <a:rect r="r" b="b" t="t" l="l"/>
            <a:pathLst>
              <a:path h="2131293" w="348757">
                <a:moveTo>
                  <a:pt x="0" y="0"/>
                </a:moveTo>
                <a:lnTo>
                  <a:pt x="348757" y="0"/>
                </a:lnTo>
                <a:lnTo>
                  <a:pt x="348757" y="2131294"/>
                </a:lnTo>
                <a:lnTo>
                  <a:pt x="0" y="2131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79356" y="2832093"/>
            <a:ext cx="8374342" cy="6131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14720" y="877299"/>
            <a:ext cx="3790498" cy="585908"/>
            <a:chOff x="0" y="0"/>
            <a:chExt cx="998320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8320" cy="154313"/>
            </a:xfrm>
            <a:custGeom>
              <a:avLst/>
              <a:gdLst/>
              <a:ahLst/>
              <a:cxnLst/>
              <a:rect r="r" b="b" t="t" l="l"/>
              <a:pathLst>
                <a:path h="154313" w="998320">
                  <a:moveTo>
                    <a:pt x="77157" y="0"/>
                  </a:moveTo>
                  <a:lnTo>
                    <a:pt x="921164" y="0"/>
                  </a:lnTo>
                  <a:cubicBezTo>
                    <a:pt x="941627" y="0"/>
                    <a:pt x="961252" y="8129"/>
                    <a:pt x="975722" y="22599"/>
                  </a:cubicBezTo>
                  <a:cubicBezTo>
                    <a:pt x="990191" y="37068"/>
                    <a:pt x="998320" y="56693"/>
                    <a:pt x="998320" y="77157"/>
                  </a:cubicBezTo>
                  <a:lnTo>
                    <a:pt x="998320" y="77157"/>
                  </a:lnTo>
                  <a:cubicBezTo>
                    <a:pt x="998320" y="97620"/>
                    <a:pt x="990191" y="117245"/>
                    <a:pt x="975722" y="131715"/>
                  </a:cubicBezTo>
                  <a:cubicBezTo>
                    <a:pt x="961252" y="146184"/>
                    <a:pt x="941627" y="154313"/>
                    <a:pt x="921164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98320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0709" y="877299"/>
            <a:ext cx="4223220" cy="585908"/>
            <a:chOff x="0" y="0"/>
            <a:chExt cx="1112288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2289" cy="154313"/>
            </a:xfrm>
            <a:custGeom>
              <a:avLst/>
              <a:gdLst/>
              <a:ahLst/>
              <a:cxnLst/>
              <a:rect r="r" b="b" t="t" l="l"/>
              <a:pathLst>
                <a:path h="154313" w="1112289">
                  <a:moveTo>
                    <a:pt x="77157" y="0"/>
                  </a:moveTo>
                  <a:lnTo>
                    <a:pt x="1035132" y="0"/>
                  </a:lnTo>
                  <a:cubicBezTo>
                    <a:pt x="1055595" y="0"/>
                    <a:pt x="1075220" y="8129"/>
                    <a:pt x="1089690" y="22599"/>
                  </a:cubicBezTo>
                  <a:cubicBezTo>
                    <a:pt x="1104160" y="37068"/>
                    <a:pt x="1112289" y="56693"/>
                    <a:pt x="1112289" y="77157"/>
                  </a:cubicBezTo>
                  <a:lnTo>
                    <a:pt x="1112289" y="77157"/>
                  </a:lnTo>
                  <a:cubicBezTo>
                    <a:pt x="1112289" y="97620"/>
                    <a:pt x="1104160" y="117245"/>
                    <a:pt x="1089690" y="131715"/>
                  </a:cubicBezTo>
                  <a:cubicBezTo>
                    <a:pt x="1075220" y="146184"/>
                    <a:pt x="1055595" y="154313"/>
                    <a:pt x="1035132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12288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14720" y="1019175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47070" y="1018438"/>
            <a:ext cx="3790498" cy="2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5"/>
              </a:lnSpc>
            </a:pPr>
            <a:r>
              <a:rPr lang="en-US" b="true" sz="168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Online Quiz Application (OOP Project)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5621" y="2981229"/>
            <a:ext cx="14706165" cy="77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Successfully developed a fully functional Java-based online quiz application using console-based interaction, demonstrating a complete software development lifecycle from planning to deployment.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5621" y="4641926"/>
            <a:ext cx="14706165" cy="116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Demonstrated effective use of Object-Oriented Programming (OOP) concepts including encapsulation, modular class design, and the use of Java classes such as Question and Quiz Manager to structure the application.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621" y="6302622"/>
            <a:ext cx="14706165" cy="77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6"/>
              </a:lnSpc>
            </a:pPr>
            <a:r>
              <a:rPr lang="en-US" sz="2460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Achieved automated quiz evaluation with real-time scoring and immediate feedback, providing a user-friendly and interactive experience suitable for educational and training environments.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69321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558272" y="-5424295"/>
            <a:ext cx="8518131" cy="8208381"/>
          </a:xfrm>
          <a:custGeom>
            <a:avLst/>
            <a:gdLst/>
            <a:ahLst/>
            <a:cxnLst/>
            <a:rect r="r" b="b" t="t" l="l"/>
            <a:pathLst>
              <a:path h="8208381" w="8518131">
                <a:moveTo>
                  <a:pt x="0" y="0"/>
                </a:moveTo>
                <a:lnTo>
                  <a:pt x="8518131" y="0"/>
                </a:lnTo>
                <a:lnTo>
                  <a:pt x="8518131" y="8208381"/>
                </a:lnTo>
                <a:lnTo>
                  <a:pt x="0" y="8208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0400" y="7810859"/>
            <a:ext cx="2365737" cy="2142067"/>
          </a:xfrm>
          <a:custGeom>
            <a:avLst/>
            <a:gdLst/>
            <a:ahLst/>
            <a:cxnLst/>
            <a:rect r="r" b="b" t="t" l="l"/>
            <a:pathLst>
              <a:path h="2142067" w="2365737">
                <a:moveTo>
                  <a:pt x="0" y="0"/>
                </a:moveTo>
                <a:lnTo>
                  <a:pt x="2365737" y="0"/>
                </a:lnTo>
                <a:lnTo>
                  <a:pt x="2365737" y="2142067"/>
                </a:lnTo>
                <a:lnTo>
                  <a:pt x="0" y="2142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86350" y="3034211"/>
            <a:ext cx="8115300" cy="302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58"/>
              </a:lnSpc>
            </a:pPr>
            <a:r>
              <a:rPr lang="en-US" b="true" sz="10795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THANK</a:t>
            </a:r>
          </a:p>
          <a:p>
            <a:pPr algn="ctr" marL="0" indent="0" lvl="0">
              <a:lnSpc>
                <a:spcPts val="11658"/>
              </a:lnSpc>
            </a:pPr>
            <a:r>
              <a:rPr lang="en-US" b="true" sz="10795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51281" y="6442398"/>
            <a:ext cx="6585439" cy="1093059"/>
            <a:chOff x="0" y="0"/>
            <a:chExt cx="1734437" cy="2878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4437" cy="287884"/>
            </a:xfrm>
            <a:custGeom>
              <a:avLst/>
              <a:gdLst/>
              <a:ahLst/>
              <a:cxnLst/>
              <a:rect r="r" b="b" t="t" l="l"/>
              <a:pathLst>
                <a:path h="287884" w="1734437">
                  <a:moveTo>
                    <a:pt x="59515" y="0"/>
                  </a:moveTo>
                  <a:lnTo>
                    <a:pt x="1674921" y="0"/>
                  </a:lnTo>
                  <a:cubicBezTo>
                    <a:pt x="1690706" y="0"/>
                    <a:pt x="1705844" y="6270"/>
                    <a:pt x="1717005" y="17432"/>
                  </a:cubicBezTo>
                  <a:cubicBezTo>
                    <a:pt x="1728166" y="28593"/>
                    <a:pt x="1734437" y="43731"/>
                    <a:pt x="1734437" y="59515"/>
                  </a:cubicBezTo>
                  <a:lnTo>
                    <a:pt x="1734437" y="228368"/>
                  </a:lnTo>
                  <a:cubicBezTo>
                    <a:pt x="1734437" y="244153"/>
                    <a:pt x="1728166" y="259291"/>
                    <a:pt x="1717005" y="270452"/>
                  </a:cubicBezTo>
                  <a:cubicBezTo>
                    <a:pt x="1705844" y="281613"/>
                    <a:pt x="1690706" y="287884"/>
                    <a:pt x="1674921" y="287884"/>
                  </a:cubicBezTo>
                  <a:lnTo>
                    <a:pt x="59515" y="287884"/>
                  </a:lnTo>
                  <a:cubicBezTo>
                    <a:pt x="43731" y="287884"/>
                    <a:pt x="28593" y="281613"/>
                    <a:pt x="17432" y="270452"/>
                  </a:cubicBezTo>
                  <a:cubicBezTo>
                    <a:pt x="6270" y="259291"/>
                    <a:pt x="0" y="244153"/>
                    <a:pt x="0" y="228368"/>
                  </a:cubicBezTo>
                  <a:lnTo>
                    <a:pt x="0" y="59515"/>
                  </a:lnTo>
                  <a:cubicBezTo>
                    <a:pt x="0" y="43731"/>
                    <a:pt x="6270" y="28593"/>
                    <a:pt x="17432" y="17432"/>
                  </a:cubicBezTo>
                  <a:cubicBezTo>
                    <a:pt x="28593" y="6270"/>
                    <a:pt x="43731" y="0"/>
                    <a:pt x="59515" y="0"/>
                  </a:cubicBezTo>
                  <a:close/>
                </a:path>
              </a:pathLst>
            </a:custGeom>
            <a:solidFill>
              <a:srgbClr val="D5E8F8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34437" cy="29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61556" y="6591573"/>
            <a:ext cx="6164888" cy="71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68"/>
              </a:lnSpc>
              <a:spcBef>
                <a:spcPct val="0"/>
              </a:spcBef>
            </a:pPr>
            <a:r>
              <a:rPr lang="en-US" b="true" sz="3834" spc="-57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Akash Yadav | RU-25-10127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-3936186" y="5254194"/>
            <a:ext cx="6088176" cy="5866788"/>
          </a:xfrm>
          <a:custGeom>
            <a:avLst/>
            <a:gdLst/>
            <a:ahLst/>
            <a:cxnLst/>
            <a:rect r="r" b="b" t="t" l="l"/>
            <a:pathLst>
              <a:path h="5866788" w="6088176">
                <a:moveTo>
                  <a:pt x="0" y="0"/>
                </a:moveTo>
                <a:lnTo>
                  <a:pt x="6088177" y="0"/>
                </a:lnTo>
                <a:lnTo>
                  <a:pt x="6088177" y="5866788"/>
                </a:lnTo>
                <a:lnTo>
                  <a:pt x="0" y="5866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10359" y="1656343"/>
            <a:ext cx="4467283" cy="34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0"/>
              </a:lnSpc>
            </a:pPr>
            <a:r>
              <a:rPr lang="en-US" b="true" sz="2040" spc="-30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Rungta International Skills University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8901789" y="6688015"/>
            <a:ext cx="484422" cy="2960355"/>
          </a:xfrm>
          <a:custGeom>
            <a:avLst/>
            <a:gdLst/>
            <a:ahLst/>
            <a:cxnLst/>
            <a:rect r="r" b="b" t="t" l="l"/>
            <a:pathLst>
              <a:path h="2960355" w="484422">
                <a:moveTo>
                  <a:pt x="0" y="0"/>
                </a:moveTo>
                <a:lnTo>
                  <a:pt x="484422" y="0"/>
                </a:lnTo>
                <a:lnTo>
                  <a:pt x="484422" y="2960356"/>
                </a:lnTo>
                <a:lnTo>
                  <a:pt x="0" y="29603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18579" y="929134"/>
            <a:ext cx="650842" cy="641802"/>
          </a:xfrm>
          <a:custGeom>
            <a:avLst/>
            <a:gdLst/>
            <a:ahLst/>
            <a:cxnLst/>
            <a:rect r="r" b="b" t="t" l="l"/>
            <a:pathLst>
              <a:path h="641802" w="650842">
                <a:moveTo>
                  <a:pt x="0" y="0"/>
                </a:moveTo>
                <a:lnTo>
                  <a:pt x="650842" y="0"/>
                </a:lnTo>
                <a:lnTo>
                  <a:pt x="650842" y="641802"/>
                </a:lnTo>
                <a:lnTo>
                  <a:pt x="0" y="641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DAHMDIfi8hg</dc:identifier>
  <dcterms:modified xsi:type="dcterms:W3CDTF">2011-08-01T06:04:30Z</dcterms:modified>
  <cp:revision>1</cp:revision>
  <dc:title>Online Quiz Application: OOP Project Overview</dc:title>
</cp:coreProperties>
</file>